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73" r:id="rId2"/>
    <p:sldId id="257" r:id="rId3"/>
    <p:sldId id="258" r:id="rId4"/>
    <p:sldId id="262" r:id="rId5"/>
    <p:sldId id="263" r:id="rId6"/>
    <p:sldId id="259" r:id="rId7"/>
    <p:sldId id="274" r:id="rId8"/>
    <p:sldId id="276" r:id="rId9"/>
    <p:sldId id="264" r:id="rId10"/>
    <p:sldId id="277" r:id="rId11"/>
    <p:sldId id="265" r:id="rId12"/>
    <p:sldId id="260" r:id="rId13"/>
    <p:sldId id="266" r:id="rId14"/>
    <p:sldId id="271"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snapToGrid="0">
      <p:cViewPr>
        <p:scale>
          <a:sx n="75" d="100"/>
          <a:sy n="75" d="100"/>
        </p:scale>
        <p:origin x="1205"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C3E771-1BF8-4DE0-8F4D-11115A1FEE76}" type="datetimeFigureOut">
              <a:rPr lang="en-BB" smtClean="0"/>
              <a:t>08/27/2026</a:t>
            </a:fld>
            <a:endParaRPr lang="en-B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054585-D072-4028-AA3D-9674183F316A}" type="slidenum">
              <a:rPr lang="en-BB" smtClean="0"/>
              <a:t>‹#›</a:t>
            </a:fld>
            <a:endParaRPr lang="en-BB"/>
          </a:p>
        </p:txBody>
      </p:sp>
    </p:spTree>
    <p:extLst>
      <p:ext uri="{BB962C8B-B14F-4D97-AF65-F5344CB8AC3E}">
        <p14:creationId xmlns:p14="http://schemas.microsoft.com/office/powerpoint/2010/main" val="277917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BB" dirty="0"/>
          </a:p>
        </p:txBody>
      </p:sp>
      <p:sp>
        <p:nvSpPr>
          <p:cNvPr id="4" name="Slide Number Placeholder 3"/>
          <p:cNvSpPr>
            <a:spLocks noGrp="1"/>
          </p:cNvSpPr>
          <p:nvPr>
            <p:ph type="sldNum" sz="quarter" idx="5"/>
          </p:nvPr>
        </p:nvSpPr>
        <p:spPr/>
        <p:txBody>
          <a:bodyPr/>
          <a:lstStyle/>
          <a:p>
            <a:fld id="{C1054585-D072-4028-AA3D-9674183F316A}" type="slidenum">
              <a:rPr lang="en-BB" smtClean="0"/>
              <a:t>12</a:t>
            </a:fld>
            <a:endParaRPr lang="en-BB"/>
          </a:p>
        </p:txBody>
      </p:sp>
    </p:spTree>
    <p:extLst>
      <p:ext uri="{BB962C8B-B14F-4D97-AF65-F5344CB8AC3E}">
        <p14:creationId xmlns:p14="http://schemas.microsoft.com/office/powerpoint/2010/main" val="150207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444479B-705B-4489-957E-7E8A228BDFA0}" type="datetime1">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89F774-3FA6-43B8-9241-99959C8FD463}" type="datetime1">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579ABC2-0180-4F3A-A895-A85BC724D472}" type="datetime1">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EEA9BA-4E8F-439E-BEA4-91FBA01E3F5F}" type="datetime1">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15BF18-0007-481C-AA29-413124BC3EE7}" type="datetime1">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09BE9870-3748-43AD-B547-02A075CB4A1D}" type="datetime1">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7B66AD-7C08-490A-ADA4-B47E10FB2407}" type="datetime1">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B95027-4255-49E7-9841-CD21BCC99996}" type="datetime1">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A38F49-B3E2-4BF0-BEC7-C30D34ABBB8D}" type="datetime1">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8/27/2026</a:t>
            </a:fld>
            <a:endParaRPr lang="en-US"/>
          </a:p>
        </p:txBody>
      </p:sp>
      <p:sp>
        <p:nvSpPr>
          <p:cNvPr id="5" name="Footer Placeholder 4"/>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4030"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575"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764347" y="3691609"/>
            <a:ext cx="8210550" cy="1026608"/>
          </a:xfrm>
          <a:prstGeom prst="rect">
            <a:avLst/>
          </a:prstGeom>
          <a:noFill/>
        </p:spPr>
        <p:txBody>
          <a:bodyPr wrap="square" rtlCol="0">
            <a:noAutofit/>
          </a:bodyPr>
          <a:lstStyle/>
          <a:p>
            <a:pPr algn="ctr"/>
            <a:r>
              <a:rPr lang="en-US" altLang="en-US" sz="2400" b="1" dirty="0">
                <a:latin typeface="Times New Roman" panose="02020603050405020304" pitchFamily="18" charset="0"/>
                <a:cs typeface="Times New Roman" panose="02020603050405020304" pitchFamily="18" charset="0"/>
              </a:rPr>
              <a:t>DSA0201- COMPUTER VISION WITH OPENCV</a:t>
            </a:r>
          </a:p>
        </p:txBody>
      </p:sp>
      <p:pic>
        <p:nvPicPr>
          <p:cNvPr id="8" name="Google Shape;92;p1" descr="SSE-Computer Science and Engineering">
            <a:extLst>
              <a:ext uri="{FF2B5EF4-FFF2-40B4-BE49-F238E27FC236}">
                <a16:creationId xmlns:a16="http://schemas.microsoft.com/office/drawing/2014/main" id="{A8D3BD59-C105-7334-DD1B-798CFE5B1925}"/>
              </a:ext>
            </a:extLst>
          </p:cNvPr>
          <p:cNvPicPr preferRelativeResize="0"/>
          <p:nvPr/>
        </p:nvPicPr>
        <p:blipFill rotWithShape="1">
          <a:blip r:embed="rId2">
            <a:alphaModFix/>
          </a:blip>
          <a:srcRect/>
          <a:stretch/>
        </p:blipFill>
        <p:spPr>
          <a:xfrm>
            <a:off x="1331844" y="325684"/>
            <a:ext cx="9352722" cy="1109630"/>
          </a:xfrm>
          <a:prstGeom prst="rect">
            <a:avLst/>
          </a:prstGeom>
          <a:noFill/>
          <a:ln>
            <a:noFill/>
          </a:ln>
        </p:spPr>
      </p:pic>
      <p:sp>
        <p:nvSpPr>
          <p:cNvPr id="6" name="TextBox 5">
            <a:extLst>
              <a:ext uri="{FF2B5EF4-FFF2-40B4-BE49-F238E27FC236}">
                <a16:creationId xmlns:a16="http://schemas.microsoft.com/office/drawing/2014/main" id="{D90F2FE6-FACE-9A41-4B57-67EC70D3C0E8}"/>
              </a:ext>
            </a:extLst>
          </p:cNvPr>
          <p:cNvSpPr txBox="1"/>
          <p:nvPr/>
        </p:nvSpPr>
        <p:spPr>
          <a:xfrm>
            <a:off x="1241051" y="1748750"/>
            <a:ext cx="9709898" cy="2241960"/>
          </a:xfrm>
          <a:prstGeom prst="rect">
            <a:avLst/>
          </a:prstGeom>
          <a:noFill/>
        </p:spPr>
        <p:txBody>
          <a:bodyPr wrap="square" rtlCol="0">
            <a:spAutoFit/>
          </a:bodyPr>
          <a:lstStyle/>
          <a:p>
            <a:pPr algn="ctr">
              <a:lnSpc>
                <a:spcPct val="150000"/>
              </a:lnSpc>
            </a:pPr>
            <a:r>
              <a:rPr lang="en-US" sz="2400" b="1" dirty="0">
                <a:latin typeface="Times New Roman" panose="02020603050405020304" pitchFamily="18" charset="0"/>
                <a:cs typeface="Times New Roman" panose="02020603050405020304" pitchFamily="18" charset="0"/>
              </a:rPr>
              <a:t>CAPSTONE PROJECT </a:t>
            </a:r>
          </a:p>
          <a:p>
            <a:pPr algn="ctr">
              <a:lnSpc>
                <a:spcPct val="150000"/>
              </a:lnSpc>
            </a:pPr>
            <a:r>
              <a:rPr lang="en-US" sz="2400" b="1" dirty="0">
                <a:latin typeface="Times New Roman" panose="02020603050405020304" pitchFamily="18" charset="0"/>
                <a:cs typeface="Times New Roman" panose="02020603050405020304" pitchFamily="18" charset="0"/>
              </a:rPr>
              <a:t>PLANT LEAF DISEASE IDENTIFICATION AND CLASSIFICATION USING OPENCV AND MACHINE LEARNING</a:t>
            </a:r>
            <a:endParaRPr lang="en-IN" sz="2400" dirty="0">
              <a:latin typeface="Times New Roman" panose="02020603050405020304" pitchFamily="18" charset="0"/>
              <a:cs typeface="Times New Roman" panose="02020603050405020304" pitchFamily="18" charset="0"/>
            </a:endParaRPr>
          </a:p>
          <a:p>
            <a:pPr algn="ctr">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B7D86A0-C5F4-0944-DE09-6C66E352F297}"/>
              </a:ext>
            </a:extLst>
          </p:cNvPr>
          <p:cNvSpPr txBox="1"/>
          <p:nvPr/>
        </p:nvSpPr>
        <p:spPr>
          <a:xfrm>
            <a:off x="412955" y="4581832"/>
            <a:ext cx="5604387" cy="147732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PRESENTED BY:</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 </a:t>
            </a:r>
            <a:r>
              <a:rPr lang="en-US" b="1">
                <a:latin typeface="Times New Roman" panose="02020603050405020304" pitchFamily="18" charset="0"/>
                <a:cs typeface="Times New Roman" panose="02020603050405020304" pitchFamily="18" charset="0"/>
              </a:rPr>
              <a:t>HEMANTH </a:t>
            </a:r>
            <a:r>
              <a:rPr lang="en-US" b="1" dirty="0">
                <a:latin typeface="Times New Roman" panose="02020603050405020304" pitchFamily="18" charset="0"/>
                <a:cs typeface="Times New Roman" panose="02020603050405020304" pitchFamily="18" charset="0"/>
              </a:rPr>
              <a:t>KUMAR</a:t>
            </a:r>
            <a:r>
              <a:rPr lang="en-US" b="1">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192324238)</a:t>
            </a:r>
          </a:p>
          <a:p>
            <a:r>
              <a:rPr lang="en-US" b="1" dirty="0">
                <a:latin typeface="Times New Roman" panose="02020603050405020304" pitchFamily="18" charset="0"/>
                <a:cs typeface="Times New Roman" panose="02020603050405020304" pitchFamily="18" charset="0"/>
              </a:rPr>
              <a:t>P. NANDIVARDHAN		(192324270)</a:t>
            </a:r>
          </a:p>
          <a:p>
            <a:r>
              <a:rPr lang="en-US" b="1" dirty="0">
                <a:latin typeface="Times New Roman" panose="02020603050405020304" pitchFamily="18" charset="0"/>
                <a:cs typeface="Times New Roman" panose="02020603050405020304" pitchFamily="18" charset="0"/>
              </a:rPr>
              <a:t>K V KARTHIKEYA		(192324183)</a:t>
            </a:r>
          </a:p>
        </p:txBody>
      </p:sp>
      <p:sp>
        <p:nvSpPr>
          <p:cNvPr id="4" name="TextBox 3">
            <a:extLst>
              <a:ext uri="{FF2B5EF4-FFF2-40B4-BE49-F238E27FC236}">
                <a16:creationId xmlns:a16="http://schemas.microsoft.com/office/drawing/2014/main" id="{AE05FDF9-1559-61EB-9600-26AFD8344F41}"/>
              </a:ext>
            </a:extLst>
          </p:cNvPr>
          <p:cNvSpPr txBox="1"/>
          <p:nvPr/>
        </p:nvSpPr>
        <p:spPr>
          <a:xfrm>
            <a:off x="7620000" y="4581832"/>
            <a:ext cx="3224508"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Guided By:</a:t>
            </a:r>
          </a:p>
          <a:p>
            <a:endParaRPr lang="en-US"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Dr. M. MAYURANATHAN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335" y="527586"/>
            <a:ext cx="10890929" cy="1097280"/>
          </a:xfrm>
        </p:spPr>
        <p:txBody>
          <a:bodyPr anchor="t">
            <a:normAutofit/>
          </a:bodyPr>
          <a:lstStyle/>
          <a:p>
            <a:pPr algn="ctr"/>
            <a:r>
              <a:rPr lang="en-IN"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3622" y="1277005"/>
            <a:ext cx="10449781" cy="5098634"/>
          </a:xfrm>
        </p:spPr>
        <p:txBody>
          <a:bodyPr vert="horz" lIns="91440" tIns="45720" rIns="91440" bIns="45720" rtlCol="0" anchor="t">
            <a:noAutofit/>
          </a:bodyPr>
          <a:lstStyle/>
          <a:p>
            <a:pPr marL="0" indent="0">
              <a:buNone/>
            </a:pPr>
            <a:r>
              <a:rPr lang="en-US" altLang="en-US" sz="1600" b="1"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marL="0" indent="0" algn="just">
              <a:lnSpc>
                <a:spcPct val="110000"/>
              </a:lnSpc>
              <a:buNone/>
            </a:pPr>
            <a:endParaRPr lang="en-US" altLang="en-US" sz="1600" dirty="0">
              <a:latin typeface="Times New Roman" panose="02020603050405020304" pitchFamily="18" charset="0"/>
              <a:cs typeface="Times New Roman" panose="02020603050405020304" pitchFamily="18" charset="0"/>
            </a:endParaRPr>
          </a:p>
        </p:txBody>
      </p:sp>
      <p:cxnSp>
        <p:nvCxnSpPr>
          <p:cNvPr id="19" name="Straight Connector 18"/>
          <p:cNvCxnSpPr>
            <a:cxnSpLocks noGrp="1" noRot="1" noChangeAspect="1" noMove="1" noResize="1" noEditPoints="1" noAdjustHandles="1" noChangeArrowheads="1" noChangeShapeType="1"/>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 blue circular logo with a book and a caduceus&#10;&#10;AI-generated content may be incorrect."/>
          <p:cNvPicPr>
            <a:picLocks noChangeAspect="1"/>
          </p:cNvPicPr>
          <p:nvPr/>
        </p:nvPicPr>
        <p:blipFill>
          <a:blip r:embed="rId2"/>
          <a:stretch>
            <a:fillRect/>
          </a:stretch>
        </p:blipFill>
        <p:spPr>
          <a:xfrm>
            <a:off x="393622" y="172429"/>
            <a:ext cx="1459642" cy="1244429"/>
          </a:xfrm>
          <a:prstGeom prst="rect">
            <a:avLst/>
          </a:prstGeom>
        </p:spPr>
      </p:pic>
      <p:pic>
        <p:nvPicPr>
          <p:cNvPr id="5" name="Picture 4" descr="A logo of a company&#10;&#10;AI-generated content may be incorrect."/>
          <p:cNvPicPr>
            <a:picLocks noChangeAspect="1"/>
          </p:cNvPicPr>
          <p:nvPr/>
        </p:nvPicPr>
        <p:blipFill>
          <a:blip r:embed="rId3"/>
          <a:stretch>
            <a:fillRect/>
          </a:stretch>
        </p:blipFill>
        <p:spPr>
          <a:xfrm>
            <a:off x="10328438" y="106855"/>
            <a:ext cx="1469940" cy="1243657"/>
          </a:xfrm>
          <a:prstGeom prst="rect">
            <a:avLst/>
          </a:prstGeom>
        </p:spPr>
      </p:pic>
      <p:sp>
        <p:nvSpPr>
          <p:cNvPr id="7" name="TextBox 6">
            <a:extLst>
              <a:ext uri="{FF2B5EF4-FFF2-40B4-BE49-F238E27FC236}">
                <a16:creationId xmlns:a16="http://schemas.microsoft.com/office/drawing/2014/main" id="{2F74EF21-1501-1C48-EE75-DBC5E97DBE7E}"/>
              </a:ext>
            </a:extLst>
          </p:cNvPr>
          <p:cNvSpPr txBox="1"/>
          <p:nvPr/>
        </p:nvSpPr>
        <p:spPr>
          <a:xfrm>
            <a:off x="615050" y="1832873"/>
            <a:ext cx="10669501" cy="461305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Plant Leaf Disease Identification and Classification using OpenCV and Machine Learning</a:t>
            </a:r>
            <a:r>
              <a:rPr lang="en-IN" dirty="0">
                <a:latin typeface="Times New Roman" panose="02020603050405020304" pitchFamily="18" charset="0"/>
                <a:cs typeface="Times New Roman" panose="02020603050405020304" pitchFamily="18" charset="0"/>
              </a:rPr>
              <a:t> is a computer vision-based approach that helps automate the detection and classification of diseases from plant leaf images.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In this system, </a:t>
            </a:r>
            <a:r>
              <a:rPr lang="en-IN" b="1" dirty="0">
                <a:latin typeface="Times New Roman" panose="02020603050405020304" pitchFamily="18" charset="0"/>
                <a:cs typeface="Times New Roman" panose="02020603050405020304" pitchFamily="18" charset="0"/>
              </a:rPr>
              <a:t>OpenCV</a:t>
            </a:r>
            <a:r>
              <a:rPr lang="en-IN" dirty="0">
                <a:latin typeface="Times New Roman" panose="02020603050405020304" pitchFamily="18" charset="0"/>
                <a:cs typeface="Times New Roman" panose="02020603050405020304" pitchFamily="18" charset="0"/>
              </a:rPr>
              <a:t> is used for image processing tasks such as image acquisition, resizing, noise removal,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conversion, segmentation, and feature extraction.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Machine learning algorithms are then applied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 extracted features and classify the leaf into healthy or diseased categories.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Plant diseases are a major challenge in agriculture because they can reduce crop quality, productivity, and economic value.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Traditionally, plant diseases are identified manually by farmers or agricultural experts through visual inspection, which can be time-consuming, subjective, and difficult when large numbers of plants need to be monitored.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535" y="482108"/>
            <a:ext cx="10890929" cy="1097280"/>
          </a:xfrm>
        </p:spPr>
        <p:txBody>
          <a:bodyPr>
            <a:normAutofit/>
          </a:bodyPr>
          <a:lstStyle/>
          <a:p>
            <a:pPr algn="ctr"/>
            <a:r>
              <a:rPr lang="en-US" dirty="0">
                <a:latin typeface="Times New Roman" panose="02020603050405020304" pitchFamily="18" charset="0"/>
                <a:ea typeface="+mj-lt"/>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9510" y="1633831"/>
            <a:ext cx="11060177" cy="5301807"/>
          </a:xfrm>
        </p:spPr>
        <p:txBody>
          <a:bodyPr vert="horz" lIns="91440" tIns="45720" rIns="91440" bIns="45720" rtlCol="0" anchor="t">
            <a:noAutofit/>
          </a:bodyPr>
          <a:lstStyle/>
          <a:p>
            <a:pPr algn="just">
              <a:lnSpc>
                <a:spcPct val="150000"/>
              </a:lnSpc>
            </a:pPr>
            <a:r>
              <a:rPr lang="en-IN" sz="1800" dirty="0">
                <a:latin typeface="Times New Roman" panose="02020603050405020304" pitchFamily="18" charset="0"/>
                <a:cs typeface="Times New Roman" panose="02020603050405020304" pitchFamily="18" charset="0"/>
              </a:rPr>
              <a:t>Plant diseases significantly affect agricultural productivity and crop quality. </a:t>
            </a:r>
          </a:p>
          <a:p>
            <a:pPr algn="just">
              <a:lnSpc>
                <a:spcPct val="150000"/>
              </a:lnSpc>
            </a:pPr>
            <a:r>
              <a:rPr lang="en-IN" sz="1800" dirty="0">
                <a:latin typeface="Times New Roman" panose="02020603050405020304" pitchFamily="18" charset="0"/>
                <a:cs typeface="Times New Roman" panose="02020603050405020304" pitchFamily="18" charset="0"/>
              </a:rPr>
              <a:t>Early identification of diseases is important to prevent their spread and reduce crop losses. </a:t>
            </a:r>
          </a:p>
          <a:p>
            <a:pPr algn="just">
              <a:lnSpc>
                <a:spcPct val="150000"/>
              </a:lnSpc>
            </a:pPr>
            <a:r>
              <a:rPr lang="en-IN" sz="1800" dirty="0">
                <a:latin typeface="Times New Roman" panose="02020603050405020304" pitchFamily="18" charset="0"/>
                <a:cs typeface="Times New Roman" panose="02020603050405020304" pitchFamily="18" charset="0"/>
              </a:rPr>
              <a:t>This process can be time-consuming, subjective, and difficult to perform accurately when a large number of plants need to be examined.</a:t>
            </a:r>
          </a:p>
          <a:p>
            <a:pPr algn="just">
              <a:lnSpc>
                <a:spcPct val="150000"/>
              </a:lnSpc>
            </a:pPr>
            <a:r>
              <a:rPr lang="en-IN" sz="1800" dirty="0">
                <a:latin typeface="Times New Roman" panose="02020603050405020304" pitchFamily="18" charset="0"/>
                <a:cs typeface="Times New Roman" panose="02020603050405020304" pitchFamily="18" charset="0"/>
              </a:rPr>
              <a:t>Therefore, there is a need for an automated system that can identify and classify plant leaf diseases accurately and efficiently from leaf images. </a:t>
            </a:r>
          </a:p>
          <a:p>
            <a:pPr algn="just">
              <a:lnSpc>
                <a:spcPct val="150000"/>
              </a:lnSpc>
            </a:pPr>
            <a:r>
              <a:rPr lang="en-IN" sz="1800" dirty="0">
                <a:latin typeface="Times New Roman" panose="02020603050405020304" pitchFamily="18" charset="0"/>
                <a:cs typeface="Times New Roman" panose="02020603050405020304" pitchFamily="18" charset="0"/>
              </a:rPr>
              <a:t>The proposed </a:t>
            </a:r>
            <a:r>
              <a:rPr lang="en-IN" sz="1800" b="1" dirty="0">
                <a:latin typeface="Times New Roman" panose="02020603050405020304" pitchFamily="18" charset="0"/>
                <a:cs typeface="Times New Roman" panose="02020603050405020304" pitchFamily="18" charset="0"/>
              </a:rPr>
              <a:t>Plant Leaf Disease Identification and Classification using OpenCV and Machine Learning</a:t>
            </a:r>
            <a:r>
              <a:rPr lang="en-IN" sz="1800" dirty="0">
                <a:latin typeface="Times New Roman" panose="02020603050405020304" pitchFamily="18" charset="0"/>
                <a:cs typeface="Times New Roman" panose="02020603050405020304" pitchFamily="18" charset="0"/>
              </a:rPr>
              <a:t> system aims to process leaf images using OpenCV techniques such as image preprocessing, segmentation, and feature extraction, and then apply machine learning algorithms to classify the leaves into healthy or different disease categories.</a:t>
            </a:r>
          </a:p>
        </p:txBody>
      </p:sp>
      <p:pic>
        <p:nvPicPr>
          <p:cNvPr id="5" name="Picture 4" descr="A blue circular logo with a book and a caduceus&#10;&#10;AI-generated content may be incorrect."/>
          <p:cNvPicPr>
            <a:picLocks noChangeAspect="1"/>
          </p:cNvPicPr>
          <p:nvPr/>
        </p:nvPicPr>
        <p:blipFill>
          <a:blip r:embed="rId2"/>
          <a:stretch>
            <a:fillRect/>
          </a:stretch>
        </p:blipFill>
        <p:spPr>
          <a:xfrm>
            <a:off x="225065" y="201196"/>
            <a:ext cx="1459642" cy="1244429"/>
          </a:xfrm>
          <a:prstGeom prst="rect">
            <a:avLst/>
          </a:prstGeom>
        </p:spPr>
      </p:pic>
      <p:pic>
        <p:nvPicPr>
          <p:cNvPr id="7" name="Picture 6" descr="A logo of a company&#10;&#10;AI-generated content may be incorrect."/>
          <p:cNvPicPr>
            <a:picLocks noChangeAspect="1"/>
          </p:cNvPicPr>
          <p:nvPr/>
        </p:nvPicPr>
        <p:blipFill>
          <a:blip r:embed="rId3"/>
          <a:stretch>
            <a:fillRect/>
          </a:stretch>
        </p:blipFill>
        <p:spPr>
          <a:xfrm>
            <a:off x="10692132" y="160139"/>
            <a:ext cx="1469940" cy="12436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203" y="896985"/>
            <a:ext cx="10890929" cy="1097280"/>
          </a:xfrm>
        </p:spPr>
        <p:txBody>
          <a:bodyPr>
            <a:normAutofit/>
          </a:bodyPr>
          <a:lstStyle/>
          <a:p>
            <a:pPr algn="ctr"/>
            <a:r>
              <a:rPr lang="en-IN"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847450" y="1913190"/>
            <a:ext cx="10497100" cy="4527305"/>
          </a:xfrm>
        </p:spPr>
        <p:txBody>
          <a:bodyPr>
            <a:noAutofit/>
          </a:bodyPr>
          <a:lstStyle/>
          <a:p>
            <a:pPr lvl="0" algn="just">
              <a:lnSpc>
                <a:spcPct val="150000"/>
              </a:lnSpc>
            </a:pPr>
            <a:r>
              <a:rPr lang="en-IN" sz="1800" dirty="0">
                <a:latin typeface="Times New Roman" panose="02020603050405020304" pitchFamily="18" charset="0"/>
                <a:cs typeface="Times New Roman" panose="02020603050405020304" pitchFamily="18" charset="0"/>
              </a:rPr>
              <a:t>To develop an automated system for identifying and classifying plant leaf diseases using digital images.</a:t>
            </a:r>
          </a:p>
          <a:p>
            <a:pPr lvl="0" algn="just">
              <a:lnSpc>
                <a:spcPct val="150000"/>
              </a:lnSpc>
            </a:pPr>
            <a:r>
              <a:rPr lang="en-IN" sz="1800" dirty="0">
                <a:latin typeface="Times New Roman" panose="02020603050405020304" pitchFamily="18" charset="0"/>
                <a:cs typeface="Times New Roman" panose="02020603050405020304" pitchFamily="18" charset="0"/>
              </a:rPr>
              <a:t>To preprocess plant leaf images using OpenCV techniques such as resizing, noise removal, </a:t>
            </a:r>
            <a:r>
              <a:rPr lang="en-IN" sz="1800" dirty="0" err="1">
                <a:latin typeface="Times New Roman" panose="02020603050405020304" pitchFamily="18" charset="0"/>
                <a:cs typeface="Times New Roman" panose="02020603050405020304" pitchFamily="18" charset="0"/>
              </a:rPr>
              <a:t>color</a:t>
            </a:r>
            <a:r>
              <a:rPr lang="en-IN" sz="1800" dirty="0">
                <a:latin typeface="Times New Roman" panose="02020603050405020304" pitchFamily="18" charset="0"/>
                <a:cs typeface="Times New Roman" panose="02020603050405020304" pitchFamily="18" charset="0"/>
              </a:rPr>
              <a:t> conversion, and image enhancement.</a:t>
            </a:r>
          </a:p>
          <a:p>
            <a:pPr lvl="0" algn="just">
              <a:lnSpc>
                <a:spcPct val="150000"/>
              </a:lnSpc>
            </a:pPr>
            <a:r>
              <a:rPr lang="en-IN" sz="1800" dirty="0">
                <a:latin typeface="Times New Roman" panose="02020603050405020304" pitchFamily="18" charset="0"/>
                <a:cs typeface="Times New Roman" panose="02020603050405020304" pitchFamily="18" charset="0"/>
              </a:rPr>
              <a:t>To segment the diseased regions of plant leaves and identify important visual characteristics.</a:t>
            </a:r>
          </a:p>
          <a:p>
            <a:pPr lvl="0" algn="just">
              <a:lnSpc>
                <a:spcPct val="150000"/>
              </a:lnSpc>
            </a:pPr>
            <a:r>
              <a:rPr lang="en-IN" sz="1800" dirty="0">
                <a:latin typeface="Times New Roman" panose="02020603050405020304" pitchFamily="18" charset="0"/>
                <a:cs typeface="Times New Roman" panose="02020603050405020304" pitchFamily="18" charset="0"/>
              </a:rPr>
              <a:t>To extract relevant features such as </a:t>
            </a:r>
            <a:r>
              <a:rPr lang="en-IN" sz="1800" dirty="0" err="1">
                <a:latin typeface="Times New Roman" panose="02020603050405020304" pitchFamily="18" charset="0"/>
                <a:cs typeface="Times New Roman" panose="02020603050405020304" pitchFamily="18" charset="0"/>
              </a:rPr>
              <a:t>color</a:t>
            </a:r>
            <a:r>
              <a:rPr lang="en-IN" sz="1800" dirty="0">
                <a:latin typeface="Times New Roman" panose="02020603050405020304" pitchFamily="18" charset="0"/>
                <a:cs typeface="Times New Roman" panose="02020603050405020304" pitchFamily="18" charset="0"/>
              </a:rPr>
              <a:t>, texture, and shape from the processed leaf images.</a:t>
            </a:r>
          </a:p>
          <a:p>
            <a:pPr lvl="0" algn="just">
              <a:lnSpc>
                <a:spcPct val="150000"/>
              </a:lnSpc>
            </a:pPr>
            <a:r>
              <a:rPr lang="en-IN" sz="1800" dirty="0">
                <a:latin typeface="Times New Roman" panose="02020603050405020304" pitchFamily="18" charset="0"/>
                <a:cs typeface="Times New Roman" panose="02020603050405020304" pitchFamily="18" charset="0"/>
              </a:rPr>
              <a:t>To apply machine learning algorithms for accurate classification of healthy and diseased plant leaves.</a:t>
            </a:r>
          </a:p>
          <a:p>
            <a:pPr lvl="0" algn="just">
              <a:lnSpc>
                <a:spcPct val="150000"/>
              </a:lnSpc>
            </a:pPr>
            <a:r>
              <a:rPr lang="en-IN" sz="1800" dirty="0">
                <a:latin typeface="Times New Roman" panose="02020603050405020304" pitchFamily="18" charset="0"/>
                <a:cs typeface="Times New Roman" panose="02020603050405020304" pitchFamily="18" charset="0"/>
              </a:rPr>
              <a:t>To evaluate the performance of the developed model using suitable metrics such as accuracy, precision, recall, and F1-score.</a:t>
            </a:r>
          </a:p>
          <a:p>
            <a:pPr lvl="0" algn="just">
              <a:lnSpc>
                <a:spcPct val="150000"/>
              </a:lnSpc>
            </a:pPr>
            <a:r>
              <a:rPr lang="en-IN" sz="1800" dirty="0">
                <a:latin typeface="Times New Roman" panose="02020603050405020304" pitchFamily="18" charset="0"/>
                <a:cs typeface="Times New Roman" panose="02020603050405020304" pitchFamily="18" charset="0"/>
              </a:rPr>
              <a:t>To reduce manual inspection time and effort required for identifying plant diseases.</a:t>
            </a:r>
          </a:p>
          <a:p>
            <a:pPr lvl="0" algn="just">
              <a:lnSpc>
                <a:spcPct val="150000"/>
              </a:lnSpc>
            </a:pPr>
            <a:endParaRPr lang="en-IN" sz="1800" dirty="0">
              <a:latin typeface="Times New Roman" panose="02020603050405020304" pitchFamily="18" charset="0"/>
              <a:cs typeface="Times New Roman" panose="02020603050405020304" pitchFamily="18" charset="0"/>
            </a:endParaRPr>
          </a:p>
        </p:txBody>
      </p:sp>
      <p:pic>
        <p:nvPicPr>
          <p:cNvPr id="5" name="Picture 4" descr="A blue circular logo with a book and a caduceus&#10;&#10;AI-generated content may be incorrect."/>
          <p:cNvPicPr>
            <a:picLocks noChangeAspect="1"/>
          </p:cNvPicPr>
          <p:nvPr/>
        </p:nvPicPr>
        <p:blipFill>
          <a:blip r:embed="rId2"/>
          <a:stretch>
            <a:fillRect/>
          </a:stretch>
        </p:blipFill>
        <p:spPr>
          <a:xfrm>
            <a:off x="439898" y="274770"/>
            <a:ext cx="1459642" cy="1244429"/>
          </a:xfrm>
          <a:prstGeom prst="rect">
            <a:avLst/>
          </a:prstGeom>
        </p:spPr>
      </p:pic>
      <p:pic>
        <p:nvPicPr>
          <p:cNvPr id="7" name="Picture 6" descr="A logo of a company&#10;&#10;AI-generated content may be incorrect."/>
          <p:cNvPicPr>
            <a:picLocks noChangeAspect="1"/>
          </p:cNvPicPr>
          <p:nvPr/>
        </p:nvPicPr>
        <p:blipFill>
          <a:blip r:embed="rId3"/>
          <a:stretch>
            <a:fillRect/>
          </a:stretch>
        </p:blipFill>
        <p:spPr>
          <a:xfrm>
            <a:off x="10282162" y="201581"/>
            <a:ext cx="1469940" cy="12436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p:cNvSpPr>
            <a:spLocks noGrp="1" noRot="1" noChangeAspect="1" noMove="1" noResize="1" noEditPoints="1" noAdjustHandles="1" noChangeArrowheads="1" noChangeShapeType="1" noTextEdit="1"/>
          </p:cNvSpPr>
          <p:nvPr/>
        </p:nvSpPr>
        <p:spPr>
          <a:xfrm>
            <a:off x="1049020" y="1721485"/>
            <a:ext cx="9211945" cy="37211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931035" y="767276"/>
            <a:ext cx="7964408" cy="1108323"/>
          </a:xfrm>
        </p:spPr>
        <p:txBody>
          <a:bodyPr>
            <a:normAutofit/>
          </a:bodyPr>
          <a:lstStyle/>
          <a:p>
            <a:pPr algn="ctr">
              <a:lnSpc>
                <a:spcPct val="90000"/>
              </a:lnSpc>
            </a:pPr>
            <a:r>
              <a:rPr lang="en-IN" sz="3400" dirty="0">
                <a:latin typeface="Times New Roman" panose="02020603050405020304"/>
                <a:cs typeface="Times New Roman" panose="02020603050405020304"/>
              </a:rPr>
              <a:t>LITERATURE REVIEW</a:t>
            </a:r>
            <a:br>
              <a:rPr lang="en-IN" sz="3400" dirty="0">
                <a:latin typeface="Times New Roman" panose="02020603050405020304" pitchFamily="18" charset="0"/>
                <a:cs typeface="Times New Roman" panose="02020603050405020304" pitchFamily="18" charset="0"/>
              </a:rPr>
            </a:br>
            <a:endParaRPr lang="en-IN" sz="3400" dirty="0">
              <a:latin typeface="Times New Roman" panose="02020603050405020304" pitchFamily="18" charset="0"/>
              <a:cs typeface="Times New Roman" panose="02020603050405020304" pitchFamily="18" charset="0"/>
            </a:endParaRPr>
          </a:p>
        </p:txBody>
      </p:sp>
      <p:cxnSp>
        <p:nvCxnSpPr>
          <p:cNvPr id="13" name="Straight Connector 12"/>
          <p:cNvCxnSpPr>
            <a:cxnSpLocks noGrp="1" noRot="1" noChangeAspect="1" noMove="1" noResize="1" noEditPoints="1" noAdjustHandles="1" noChangeArrowheads="1" noChangeShapeType="1"/>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 blue circular logo with a book and a caduceus&#10;&#10;AI-generated content may be incorrect."/>
          <p:cNvPicPr>
            <a:picLocks noChangeAspect="1"/>
          </p:cNvPicPr>
          <p:nvPr/>
        </p:nvPicPr>
        <p:blipFill>
          <a:blip r:embed="rId2"/>
          <a:stretch>
            <a:fillRect/>
          </a:stretch>
        </p:blipFill>
        <p:spPr>
          <a:xfrm>
            <a:off x="520032" y="201196"/>
            <a:ext cx="1459642" cy="1244429"/>
          </a:xfrm>
          <a:prstGeom prst="rect">
            <a:avLst/>
          </a:prstGeom>
        </p:spPr>
      </p:pic>
      <p:pic>
        <p:nvPicPr>
          <p:cNvPr id="7" name="Picture 6" descr="A logo of a company&#10;&#10;AI-generated content may be incorrect."/>
          <p:cNvPicPr>
            <a:picLocks noChangeAspect="1"/>
          </p:cNvPicPr>
          <p:nvPr/>
        </p:nvPicPr>
        <p:blipFill>
          <a:blip r:embed="rId3"/>
          <a:stretch>
            <a:fillRect/>
          </a:stretch>
        </p:blipFill>
        <p:spPr>
          <a:xfrm>
            <a:off x="9814611" y="191657"/>
            <a:ext cx="1469940" cy="1243657"/>
          </a:xfrm>
          <a:prstGeom prst="rect">
            <a:avLst/>
          </a:prstGeom>
        </p:spPr>
      </p:pic>
      <p:pic>
        <p:nvPicPr>
          <p:cNvPr id="15" name="Picture 14" descr="IoT-Integrated robotic system for automated plant disease detection and environmental monitoring | Scientific Reports">
            <a:extLst>
              <a:ext uri="{FF2B5EF4-FFF2-40B4-BE49-F238E27FC236}">
                <a16:creationId xmlns:a16="http://schemas.microsoft.com/office/drawing/2014/main" id="{63691BB7-F834-EA94-E509-C8088974BC09}"/>
              </a:ext>
            </a:extLst>
          </p:cNvPr>
          <p:cNvPicPr>
            <a:picLocks noChangeAspect="1"/>
          </p:cNvPicPr>
          <p:nvPr/>
        </p:nvPicPr>
        <p:blipFill>
          <a:blip r:embed="rId4"/>
          <a:stretch>
            <a:fillRect/>
          </a:stretch>
        </p:blipFill>
        <p:spPr>
          <a:xfrm>
            <a:off x="442452" y="1721485"/>
            <a:ext cx="11415251" cy="46016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p:nvPr/>
        </p:nvSpPr>
        <p:spPr>
          <a:xfrm>
            <a:off x="1973261" y="416130"/>
            <a:ext cx="8245475" cy="886460"/>
          </a:xfrm>
          <a:prstGeom prst="rect">
            <a:avLst/>
          </a:prstGeom>
          <a:noFill/>
        </p:spPr>
        <p:txBody>
          <a:bodyPr wrap="square" rtlCol="0">
            <a:noAutofit/>
          </a:bodyPr>
          <a:lstStyle/>
          <a:p>
            <a:r>
              <a:rPr lang="en-IN" altLang="en-US" sz="3600" b="1">
                <a:latin typeface="Times New Roman" panose="02020603050405020304" pitchFamily="18" charset="0"/>
                <a:cs typeface="Times New Roman" panose="02020603050405020304" pitchFamily="18" charset="0"/>
              </a:rPr>
              <a:t>          </a:t>
            </a:r>
            <a:r>
              <a:rPr lang="en-US" altLang="en-US" sz="3600" b="1">
                <a:latin typeface="Times New Roman" panose="02020603050405020304" pitchFamily="18" charset="0"/>
                <a:cs typeface="Times New Roman" panose="02020603050405020304" pitchFamily="18" charset="0"/>
              </a:rPr>
              <a:t>SYSTEM </a:t>
            </a:r>
            <a:r>
              <a:rPr lang="en-US" altLang="en-US" sz="3600" b="1" dirty="0">
                <a:latin typeface="Times New Roman" panose="02020603050405020304" pitchFamily="18" charset="0"/>
                <a:cs typeface="Times New Roman" panose="02020603050405020304" pitchFamily="18" charset="0"/>
              </a:rPr>
              <a:t>ARCHITECTURE</a:t>
            </a:r>
            <a:endParaRPr lang="en-US" sz="3600" b="1" dirty="0">
              <a:latin typeface="Times New Roman" panose="02020603050405020304" pitchFamily="18" charset="0"/>
              <a:cs typeface="Times New Roman" panose="02020603050405020304" pitchFamily="18" charset="0"/>
            </a:endParaRPr>
          </a:p>
        </p:txBody>
      </p:sp>
      <p:pic>
        <p:nvPicPr>
          <p:cNvPr id="10" name="Picture 9" descr="A blue circular logo with a book and a caduceus&#10;&#10;AI-generated content may be incorrect."/>
          <p:cNvPicPr>
            <a:picLocks noChangeAspect="1"/>
          </p:cNvPicPr>
          <p:nvPr/>
        </p:nvPicPr>
        <p:blipFill>
          <a:blip r:embed="rId2"/>
          <a:stretch>
            <a:fillRect/>
          </a:stretch>
        </p:blipFill>
        <p:spPr>
          <a:xfrm>
            <a:off x="358141" y="0"/>
            <a:ext cx="1459642" cy="1244429"/>
          </a:xfrm>
          <a:prstGeom prst="rect">
            <a:avLst/>
          </a:prstGeom>
        </p:spPr>
      </p:pic>
      <p:pic>
        <p:nvPicPr>
          <p:cNvPr id="11" name="Picture 10" descr="A logo of a company&#10;&#10;AI-generated content may be incorrect."/>
          <p:cNvPicPr>
            <a:picLocks noChangeAspect="1"/>
          </p:cNvPicPr>
          <p:nvPr/>
        </p:nvPicPr>
        <p:blipFill>
          <a:blip r:embed="rId3"/>
          <a:stretch>
            <a:fillRect/>
          </a:stretch>
        </p:blipFill>
        <p:spPr>
          <a:xfrm>
            <a:off x="10283401" y="58625"/>
            <a:ext cx="1543685" cy="1243965"/>
          </a:xfrm>
          <a:prstGeom prst="rect">
            <a:avLst/>
          </a:prstGeom>
        </p:spPr>
      </p:pic>
      <p:pic>
        <p:nvPicPr>
          <p:cNvPr id="2" name="Picture 1" descr="Frontiers | Detection and identification of plant leaf diseases using YOLOv4">
            <a:extLst>
              <a:ext uri="{FF2B5EF4-FFF2-40B4-BE49-F238E27FC236}">
                <a16:creationId xmlns:a16="http://schemas.microsoft.com/office/drawing/2014/main" id="{C40AF10B-A9B0-DB98-F566-7F60C71F6A78}"/>
              </a:ext>
            </a:extLst>
          </p:cNvPr>
          <p:cNvPicPr>
            <a:picLocks noChangeAspect="1"/>
          </p:cNvPicPr>
          <p:nvPr/>
        </p:nvPicPr>
        <p:blipFill>
          <a:blip r:embed="rId4"/>
          <a:stretch>
            <a:fillRect/>
          </a:stretch>
        </p:blipFill>
        <p:spPr>
          <a:xfrm>
            <a:off x="294967" y="1302590"/>
            <a:ext cx="11602065" cy="52653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C7BBB-090E-D5EB-07E9-3E1D4254DC7D}"/>
              </a:ext>
            </a:extLst>
          </p:cNvPr>
          <p:cNvSpPr>
            <a:spLocks noGrp="1"/>
          </p:cNvSpPr>
          <p:nvPr>
            <p:ph type="title"/>
          </p:nvPr>
        </p:nvSpPr>
        <p:spPr>
          <a:xfrm>
            <a:off x="650535" y="1164153"/>
            <a:ext cx="10890929" cy="1097280"/>
          </a:xfrm>
        </p:spPr>
        <p:txBody>
          <a:bodyPr>
            <a:normAutofit/>
          </a:bodyPr>
          <a:lstStyle/>
          <a:p>
            <a:pPr algn="ctr"/>
            <a:r>
              <a:rPr lang="en-IN" sz="2800" dirty="0">
                <a:latin typeface="Times New Roman" panose="02020603050405020304" pitchFamily="18" charset="0"/>
                <a:cs typeface="Times New Roman" panose="02020603050405020304" pitchFamily="18" charset="0"/>
              </a:rPr>
              <a:t>MODULE 1: IMAGE ACQUISITION AND PREPROCESSING</a:t>
            </a:r>
          </a:p>
        </p:txBody>
      </p:sp>
      <p:sp>
        <p:nvSpPr>
          <p:cNvPr id="3" name="Content Placeholder 2">
            <a:extLst>
              <a:ext uri="{FF2B5EF4-FFF2-40B4-BE49-F238E27FC236}">
                <a16:creationId xmlns:a16="http://schemas.microsoft.com/office/drawing/2014/main" id="{07CCF626-FBD1-C121-C177-0FFED27B5FB0}"/>
              </a:ext>
            </a:extLst>
          </p:cNvPr>
          <p:cNvSpPr>
            <a:spLocks noGrp="1"/>
          </p:cNvSpPr>
          <p:nvPr>
            <p:ph idx="1"/>
          </p:nvPr>
        </p:nvSpPr>
        <p:spPr>
          <a:xfrm>
            <a:off x="871042" y="1891523"/>
            <a:ext cx="10449916" cy="4416019"/>
          </a:xfrm>
        </p:spPr>
        <p:txBody>
          <a:bodyPr>
            <a:noAutofit/>
          </a:bodyPr>
          <a:lstStyle/>
          <a:p>
            <a:pPr lvl="0" algn="just">
              <a:lnSpc>
                <a:spcPct val="150000"/>
              </a:lnSpc>
            </a:pPr>
            <a:r>
              <a:rPr lang="en-IN" sz="1800" dirty="0">
                <a:latin typeface="Times New Roman" panose="02020603050405020304" pitchFamily="18" charset="0"/>
                <a:cs typeface="Times New Roman" panose="02020603050405020304" pitchFamily="18" charset="0"/>
              </a:rPr>
              <a:t>Collect plant leaf images from a reliable dataset or capture them using a digital camera or mobile camera under suitable lighting conditions.</a:t>
            </a:r>
          </a:p>
          <a:p>
            <a:pPr lvl="0" algn="just">
              <a:lnSpc>
                <a:spcPct val="150000"/>
              </a:lnSpc>
            </a:pPr>
            <a:r>
              <a:rPr lang="en-IN" sz="1800" dirty="0">
                <a:latin typeface="Times New Roman" panose="02020603050405020304" pitchFamily="18" charset="0"/>
                <a:cs typeface="Times New Roman" panose="02020603050405020304" pitchFamily="18" charset="0"/>
              </a:rPr>
              <a:t>Load the collected leaf images into the system using OpenCV for further processing and analysis.</a:t>
            </a:r>
          </a:p>
          <a:p>
            <a:pPr lvl="0" algn="just">
              <a:lnSpc>
                <a:spcPct val="150000"/>
              </a:lnSpc>
            </a:pPr>
            <a:r>
              <a:rPr lang="en-IN" sz="1800" dirty="0">
                <a:latin typeface="Times New Roman" panose="02020603050405020304" pitchFamily="18" charset="0"/>
                <a:cs typeface="Times New Roman" panose="02020603050405020304" pitchFamily="18" charset="0"/>
              </a:rPr>
              <a:t>Resize all images to a fixed and consistent resolution so that they can be processed efficiently.</a:t>
            </a:r>
          </a:p>
          <a:p>
            <a:pPr lvl="0" algn="just">
              <a:lnSpc>
                <a:spcPct val="150000"/>
              </a:lnSpc>
            </a:pPr>
            <a:r>
              <a:rPr lang="en-IN" sz="1800" dirty="0">
                <a:latin typeface="Times New Roman" panose="02020603050405020304" pitchFamily="18" charset="0"/>
                <a:cs typeface="Times New Roman" panose="02020603050405020304" pitchFamily="18" charset="0"/>
              </a:rPr>
              <a:t>Remove unwanted noise, blur, and small artifacts using appropriate image filtering techniques.</a:t>
            </a:r>
          </a:p>
          <a:p>
            <a:pPr lvl="0" algn="just">
              <a:lnSpc>
                <a:spcPct val="150000"/>
              </a:lnSpc>
            </a:pPr>
            <a:r>
              <a:rPr lang="en-IN" sz="1800" dirty="0">
                <a:latin typeface="Times New Roman" panose="02020603050405020304" pitchFamily="18" charset="0"/>
                <a:cs typeface="Times New Roman" panose="02020603050405020304" pitchFamily="18" charset="0"/>
              </a:rPr>
              <a:t>Convert the images from RGB into suitable </a:t>
            </a:r>
            <a:r>
              <a:rPr lang="en-IN" sz="1800" dirty="0" err="1">
                <a:latin typeface="Times New Roman" panose="02020603050405020304" pitchFamily="18" charset="0"/>
                <a:cs typeface="Times New Roman" panose="02020603050405020304" pitchFamily="18" charset="0"/>
              </a:rPr>
              <a:t>color</a:t>
            </a:r>
            <a:r>
              <a:rPr lang="en-IN" sz="1800" dirty="0">
                <a:latin typeface="Times New Roman" panose="02020603050405020304" pitchFamily="18" charset="0"/>
                <a:cs typeface="Times New Roman" panose="02020603050405020304" pitchFamily="18" charset="0"/>
              </a:rPr>
              <a:t> spaces such as HSV or grayscale to improve the identification of disease-related features.</a:t>
            </a:r>
          </a:p>
          <a:p>
            <a:pPr lvl="0" algn="just">
              <a:lnSpc>
                <a:spcPct val="150000"/>
              </a:lnSpc>
            </a:pPr>
            <a:r>
              <a:rPr lang="en-IN" sz="1800" dirty="0">
                <a:latin typeface="Times New Roman" panose="02020603050405020304" pitchFamily="18" charset="0"/>
                <a:cs typeface="Times New Roman" panose="02020603050405020304" pitchFamily="18" charset="0"/>
              </a:rPr>
              <a:t>Enhance image quality by adjusting brightness, contrast, and other image properties.</a:t>
            </a:r>
          </a:p>
        </p:txBody>
      </p:sp>
      <p:pic>
        <p:nvPicPr>
          <p:cNvPr id="5" name="Picture 4" descr="A blue circular logo with a book and a caduceus&#10;&#10;AI-generated content may be incorrect.">
            <a:extLst>
              <a:ext uri="{FF2B5EF4-FFF2-40B4-BE49-F238E27FC236}">
                <a16:creationId xmlns:a16="http://schemas.microsoft.com/office/drawing/2014/main" id="{2247FA88-C5C1-8F25-EE02-A0476B40A278}"/>
              </a:ext>
            </a:extLst>
          </p:cNvPr>
          <p:cNvPicPr>
            <a:picLocks noChangeAspect="1"/>
          </p:cNvPicPr>
          <p:nvPr/>
        </p:nvPicPr>
        <p:blipFill>
          <a:blip r:embed="rId2"/>
          <a:stretch>
            <a:fillRect/>
          </a:stretch>
        </p:blipFill>
        <p:spPr>
          <a:xfrm>
            <a:off x="0" y="42246"/>
            <a:ext cx="1329960" cy="1133868"/>
          </a:xfrm>
          <a:prstGeom prst="rect">
            <a:avLst/>
          </a:prstGeom>
        </p:spPr>
      </p:pic>
      <p:pic>
        <p:nvPicPr>
          <p:cNvPr id="7" name="Picture 6" descr="A logo of a company&#10;&#10;AI-generated content may be incorrect.">
            <a:extLst>
              <a:ext uri="{FF2B5EF4-FFF2-40B4-BE49-F238E27FC236}">
                <a16:creationId xmlns:a16="http://schemas.microsoft.com/office/drawing/2014/main" id="{D23926A6-3491-19D3-A236-991F6BD97D6A}"/>
              </a:ext>
            </a:extLst>
          </p:cNvPr>
          <p:cNvPicPr>
            <a:picLocks noChangeAspect="1"/>
          </p:cNvPicPr>
          <p:nvPr/>
        </p:nvPicPr>
        <p:blipFill>
          <a:blip r:embed="rId3"/>
          <a:stretch>
            <a:fillRect/>
          </a:stretch>
        </p:blipFill>
        <p:spPr>
          <a:xfrm>
            <a:off x="10851824" y="42246"/>
            <a:ext cx="1340175" cy="1133868"/>
          </a:xfrm>
          <a:prstGeom prst="rect">
            <a:avLst/>
          </a:prstGeom>
        </p:spPr>
      </p:pic>
    </p:spTree>
    <p:extLst>
      <p:ext uri="{BB962C8B-B14F-4D97-AF65-F5344CB8AC3E}">
        <p14:creationId xmlns:p14="http://schemas.microsoft.com/office/powerpoint/2010/main" val="325458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circular logo with a book and a caduceus&#10;&#10;AI-generated content may be incorrect.">
            <a:extLst>
              <a:ext uri="{FF2B5EF4-FFF2-40B4-BE49-F238E27FC236}">
                <a16:creationId xmlns:a16="http://schemas.microsoft.com/office/drawing/2014/main" id="{57BDD86E-3E77-9EF7-6FF0-B2A2B233A063}"/>
              </a:ext>
            </a:extLst>
          </p:cNvPr>
          <p:cNvPicPr>
            <a:picLocks noChangeAspect="1"/>
          </p:cNvPicPr>
          <p:nvPr/>
        </p:nvPicPr>
        <p:blipFill>
          <a:blip r:embed="rId2"/>
          <a:stretch>
            <a:fillRect/>
          </a:stretch>
        </p:blipFill>
        <p:spPr>
          <a:xfrm>
            <a:off x="393441" y="325713"/>
            <a:ext cx="1329960" cy="1133868"/>
          </a:xfrm>
          <a:prstGeom prst="rect">
            <a:avLst/>
          </a:prstGeom>
        </p:spPr>
      </p:pic>
      <p:pic>
        <p:nvPicPr>
          <p:cNvPr id="9" name="Picture 8" descr="A logo of a company&#10;&#10;AI-generated content may be incorrect.">
            <a:extLst>
              <a:ext uri="{FF2B5EF4-FFF2-40B4-BE49-F238E27FC236}">
                <a16:creationId xmlns:a16="http://schemas.microsoft.com/office/drawing/2014/main" id="{6D260708-92A8-88ED-3CD6-5E6666794EC3}"/>
              </a:ext>
            </a:extLst>
          </p:cNvPr>
          <p:cNvPicPr>
            <a:picLocks noChangeAspect="1"/>
          </p:cNvPicPr>
          <p:nvPr/>
        </p:nvPicPr>
        <p:blipFill>
          <a:blip r:embed="rId3"/>
          <a:stretch>
            <a:fillRect/>
          </a:stretch>
        </p:blipFill>
        <p:spPr>
          <a:xfrm>
            <a:off x="10619296" y="325713"/>
            <a:ext cx="1340175" cy="1133868"/>
          </a:xfrm>
          <a:prstGeom prst="rect">
            <a:avLst/>
          </a:prstGeom>
        </p:spPr>
      </p:pic>
      <p:sp>
        <p:nvSpPr>
          <p:cNvPr id="11" name="TextBox 10">
            <a:extLst>
              <a:ext uri="{FF2B5EF4-FFF2-40B4-BE49-F238E27FC236}">
                <a16:creationId xmlns:a16="http://schemas.microsoft.com/office/drawing/2014/main" id="{B1692B6F-52D9-F374-12DA-704A20655882}"/>
              </a:ext>
            </a:extLst>
          </p:cNvPr>
          <p:cNvSpPr txBox="1"/>
          <p:nvPr/>
        </p:nvSpPr>
        <p:spPr>
          <a:xfrm>
            <a:off x="1058421" y="892647"/>
            <a:ext cx="72234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				MODULE 1: OUTPUT</a:t>
            </a:r>
          </a:p>
        </p:txBody>
      </p:sp>
      <p:pic>
        <p:nvPicPr>
          <p:cNvPr id="2" name="Picture 1" descr="Herbify: an ensemble deep learning framework integrating convolutional neural networks and vision transformers for precise herb identification | Plant Methods | Springer Nature Link">
            <a:extLst>
              <a:ext uri="{FF2B5EF4-FFF2-40B4-BE49-F238E27FC236}">
                <a16:creationId xmlns:a16="http://schemas.microsoft.com/office/drawing/2014/main" id="{C487D8AD-FF03-DCFD-026D-C0D7E930659F}"/>
              </a:ext>
            </a:extLst>
          </p:cNvPr>
          <p:cNvPicPr>
            <a:picLocks noChangeAspect="1"/>
          </p:cNvPicPr>
          <p:nvPr/>
        </p:nvPicPr>
        <p:blipFill>
          <a:blip r:embed="rId4"/>
          <a:stretch>
            <a:fillRect/>
          </a:stretch>
        </p:blipFill>
        <p:spPr>
          <a:xfrm>
            <a:off x="1524000" y="2026515"/>
            <a:ext cx="9144000" cy="3794760"/>
          </a:xfrm>
          <a:prstGeom prst="rect">
            <a:avLst/>
          </a:prstGeom>
        </p:spPr>
      </p:pic>
    </p:spTree>
    <p:extLst>
      <p:ext uri="{BB962C8B-B14F-4D97-AF65-F5344CB8AC3E}">
        <p14:creationId xmlns:p14="http://schemas.microsoft.com/office/powerpoint/2010/main" val="2124845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732" y="765388"/>
            <a:ext cx="10890929" cy="1097280"/>
          </a:xfrm>
        </p:spPr>
        <p:txBody>
          <a:bodyPr>
            <a:noAutofit/>
          </a:bodyPr>
          <a:lstStyle/>
          <a:p>
            <a:pPr algn="ctr"/>
            <a:r>
              <a:rPr lang="en-IN" sz="2800" dirty="0">
                <a:latin typeface="Times New Roman" panose="02020603050405020304" pitchFamily="18" charset="0"/>
                <a:cs typeface="Times New Roman" panose="02020603050405020304" pitchFamily="18" charset="0"/>
              </a:rPr>
              <a:t>MODULE 2: FEATURE EXTRACTION AND DISEASE DETECTION</a:t>
            </a: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5981" y="1727282"/>
            <a:ext cx="11114429" cy="5130718"/>
          </a:xfrm>
        </p:spPr>
        <p:txBody>
          <a:bodyPr>
            <a:noAutofit/>
          </a:bodyPr>
          <a:lstStyle/>
          <a:p>
            <a:pPr lvl="0" algn="just">
              <a:lnSpc>
                <a:spcPct val="150000"/>
              </a:lnSpc>
            </a:pPr>
            <a:r>
              <a:rPr lang="en-IN" dirty="0">
                <a:latin typeface="Times New Roman" panose="02020603050405020304" pitchFamily="18" charset="0"/>
                <a:cs typeface="Times New Roman" panose="02020603050405020304" pitchFamily="18" charset="0"/>
              </a:rPr>
              <a:t>Extract important characteristics from the </a:t>
            </a:r>
            <a:r>
              <a:rPr lang="en-IN" dirty="0" err="1">
                <a:latin typeface="Times New Roman" panose="02020603050405020304" pitchFamily="18" charset="0"/>
                <a:cs typeface="Times New Roman" panose="02020603050405020304" pitchFamily="18" charset="0"/>
              </a:rPr>
              <a:t>preprocessed</a:t>
            </a:r>
            <a:r>
              <a:rPr lang="en-IN" dirty="0">
                <a:latin typeface="Times New Roman" panose="02020603050405020304" pitchFamily="18" charset="0"/>
                <a:cs typeface="Times New Roman" panose="02020603050405020304" pitchFamily="18" charset="0"/>
              </a:rPr>
              <a:t> plant leaf images for identifying disease patterns.</a:t>
            </a:r>
          </a:p>
          <a:p>
            <a:pPr lvl="0" algn="just">
              <a:lnSpc>
                <a:spcPct val="150000"/>
              </a:lnSpc>
            </a:pP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 </a:t>
            </a:r>
            <a:r>
              <a:rPr lang="en-IN" b="1" dirty="0" err="1">
                <a:latin typeface="Times New Roman" panose="02020603050405020304" pitchFamily="18" charset="0"/>
                <a:cs typeface="Times New Roman" panose="02020603050405020304" pitchFamily="18" charset="0"/>
              </a:rPr>
              <a:t>color</a:t>
            </a:r>
            <a:r>
              <a:rPr lang="en-IN" b="1" dirty="0">
                <a:latin typeface="Times New Roman" panose="02020603050405020304" pitchFamily="18" charset="0"/>
                <a:cs typeface="Times New Roman" panose="02020603050405020304" pitchFamily="18" charset="0"/>
              </a:rPr>
              <a:t> features</a:t>
            </a:r>
            <a:r>
              <a:rPr lang="en-IN" dirty="0">
                <a:latin typeface="Times New Roman" panose="02020603050405020304" pitchFamily="18" charset="0"/>
                <a:cs typeface="Times New Roman" panose="02020603050405020304" pitchFamily="18" charset="0"/>
              </a:rPr>
              <a:t> of the leaf to identify abnormal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changes associated with different diseases.</a:t>
            </a:r>
          </a:p>
          <a:p>
            <a:pPr lvl="0" algn="just">
              <a:lnSpc>
                <a:spcPct val="150000"/>
              </a:lnSpc>
            </a:pPr>
            <a:r>
              <a:rPr lang="en-IN" dirty="0">
                <a:latin typeface="Times New Roman" panose="02020603050405020304" pitchFamily="18" charset="0"/>
                <a:cs typeface="Times New Roman" panose="02020603050405020304" pitchFamily="18" charset="0"/>
              </a:rPr>
              <a:t>Extract </a:t>
            </a:r>
            <a:r>
              <a:rPr lang="en-IN" b="1" dirty="0">
                <a:latin typeface="Times New Roman" panose="02020603050405020304" pitchFamily="18" charset="0"/>
                <a:cs typeface="Times New Roman" panose="02020603050405020304" pitchFamily="18" charset="0"/>
              </a:rPr>
              <a:t>texture features</a:t>
            </a:r>
            <a:r>
              <a:rPr lang="en-IN" dirty="0">
                <a:latin typeface="Times New Roman" panose="02020603050405020304" pitchFamily="18" charset="0"/>
                <a:cs typeface="Times New Roman" panose="02020603050405020304" pitchFamily="18" charset="0"/>
              </a:rPr>
              <a:t> to detect spots, patches, lesions, and other surface abnormalities present on the leaf.</a:t>
            </a:r>
          </a:p>
          <a:p>
            <a:pPr lvl="0" algn="just">
              <a:lnSpc>
                <a:spcPct val="150000"/>
              </a:lnSpc>
            </a:pP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shape and structure</a:t>
            </a:r>
            <a:r>
              <a:rPr lang="en-IN" dirty="0">
                <a:latin typeface="Times New Roman" panose="02020603050405020304" pitchFamily="18" charset="0"/>
                <a:cs typeface="Times New Roman" panose="02020603050405020304" pitchFamily="18" charset="0"/>
              </a:rPr>
              <a:t> of the leaf to identify changes caused by disease infection.</a:t>
            </a:r>
          </a:p>
          <a:p>
            <a:pPr lvl="0" algn="just">
              <a:lnSpc>
                <a:spcPct val="150000"/>
              </a:lnSpc>
            </a:pPr>
            <a:r>
              <a:rPr lang="en-IN" dirty="0">
                <a:latin typeface="Times New Roman" panose="02020603050405020304" pitchFamily="18" charset="0"/>
                <a:cs typeface="Times New Roman" panose="02020603050405020304" pitchFamily="18" charset="0"/>
              </a:rPr>
              <a:t>Segment the leaf image to separate healthy portions from potentially infected or damaged regions.</a:t>
            </a:r>
          </a:p>
          <a:p>
            <a:pPr lvl="0" algn="just">
              <a:lnSpc>
                <a:spcPct val="150000"/>
              </a:lnSpc>
            </a:pPr>
            <a:r>
              <a:rPr lang="en-IN" dirty="0">
                <a:latin typeface="Times New Roman" panose="02020603050405020304" pitchFamily="18" charset="0"/>
                <a:cs typeface="Times New Roman" panose="02020603050405020304" pitchFamily="18" charset="0"/>
              </a:rPr>
              <a:t>Identify important disease-related regions by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differences in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texture, and appearance.</a:t>
            </a:r>
          </a:p>
        </p:txBody>
      </p:sp>
      <p:pic>
        <p:nvPicPr>
          <p:cNvPr id="5" name="Picture 4" descr="A blue circular logo with a book and a caduceus&#10;&#10;AI-generated content may be incorrect."/>
          <p:cNvPicPr>
            <a:picLocks noChangeAspect="1"/>
          </p:cNvPicPr>
          <p:nvPr/>
        </p:nvPicPr>
        <p:blipFill>
          <a:blip r:embed="rId2"/>
          <a:stretch>
            <a:fillRect/>
          </a:stretch>
        </p:blipFill>
        <p:spPr>
          <a:xfrm>
            <a:off x="460643" y="144960"/>
            <a:ext cx="1316343" cy="1122258"/>
          </a:xfrm>
          <a:prstGeom prst="rect">
            <a:avLst/>
          </a:prstGeom>
        </p:spPr>
      </p:pic>
      <p:pic>
        <p:nvPicPr>
          <p:cNvPr id="7" name="Picture 6" descr="A logo of a company&#10;&#10;AI-generated content may be incorrect."/>
          <p:cNvPicPr>
            <a:picLocks noChangeAspect="1"/>
          </p:cNvPicPr>
          <p:nvPr/>
        </p:nvPicPr>
        <p:blipFill>
          <a:blip r:embed="rId3"/>
          <a:stretch>
            <a:fillRect/>
          </a:stretch>
        </p:blipFill>
        <p:spPr>
          <a:xfrm>
            <a:off x="10611616" y="191770"/>
            <a:ext cx="1154134" cy="10286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circular logo with a book and a caduceus&#10;&#10;AI-generated content may be incorrect.">
            <a:extLst>
              <a:ext uri="{FF2B5EF4-FFF2-40B4-BE49-F238E27FC236}">
                <a16:creationId xmlns:a16="http://schemas.microsoft.com/office/drawing/2014/main" id="{21EACE01-8168-A35F-FF93-465B285D5CA9}"/>
              </a:ext>
            </a:extLst>
          </p:cNvPr>
          <p:cNvPicPr>
            <a:picLocks noChangeAspect="1"/>
          </p:cNvPicPr>
          <p:nvPr/>
        </p:nvPicPr>
        <p:blipFill>
          <a:blip r:embed="rId2"/>
          <a:stretch>
            <a:fillRect/>
          </a:stretch>
        </p:blipFill>
        <p:spPr>
          <a:xfrm>
            <a:off x="460643" y="144960"/>
            <a:ext cx="1316343" cy="1122258"/>
          </a:xfrm>
          <a:prstGeom prst="rect">
            <a:avLst/>
          </a:prstGeom>
        </p:spPr>
      </p:pic>
      <p:pic>
        <p:nvPicPr>
          <p:cNvPr id="7" name="Picture 6" descr="A logo of a company&#10;&#10;AI-generated content may be incorrect.">
            <a:extLst>
              <a:ext uri="{FF2B5EF4-FFF2-40B4-BE49-F238E27FC236}">
                <a16:creationId xmlns:a16="http://schemas.microsoft.com/office/drawing/2014/main" id="{06ADDE98-C3D0-071B-E719-A6281BB00282}"/>
              </a:ext>
            </a:extLst>
          </p:cNvPr>
          <p:cNvPicPr>
            <a:picLocks noChangeAspect="1"/>
          </p:cNvPicPr>
          <p:nvPr/>
        </p:nvPicPr>
        <p:blipFill>
          <a:blip r:embed="rId3"/>
          <a:stretch>
            <a:fillRect/>
          </a:stretch>
        </p:blipFill>
        <p:spPr>
          <a:xfrm>
            <a:off x="10611616" y="191770"/>
            <a:ext cx="1154134" cy="1028639"/>
          </a:xfrm>
          <a:prstGeom prst="rect">
            <a:avLst/>
          </a:prstGeom>
        </p:spPr>
      </p:pic>
      <p:sp>
        <p:nvSpPr>
          <p:cNvPr id="9" name="TextBox 8">
            <a:extLst>
              <a:ext uri="{FF2B5EF4-FFF2-40B4-BE49-F238E27FC236}">
                <a16:creationId xmlns:a16="http://schemas.microsoft.com/office/drawing/2014/main" id="{C8E68187-E68B-8C12-09DE-D66CF791D211}"/>
              </a:ext>
            </a:extLst>
          </p:cNvPr>
          <p:cNvSpPr txBox="1"/>
          <p:nvPr/>
        </p:nvSpPr>
        <p:spPr>
          <a:xfrm>
            <a:off x="1012723" y="847721"/>
            <a:ext cx="811161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				MODULE 2: OUTPUT</a:t>
            </a:r>
          </a:p>
        </p:txBody>
      </p:sp>
      <p:pic>
        <p:nvPicPr>
          <p:cNvPr id="2" name="Picture 1" descr="Frontiers | RAAWC-UNet: an apple leaf and disease segmentation method based on residual attention and atrous spatial pyramid pooling improved UNet with weight compression loss">
            <a:extLst>
              <a:ext uri="{FF2B5EF4-FFF2-40B4-BE49-F238E27FC236}">
                <a16:creationId xmlns:a16="http://schemas.microsoft.com/office/drawing/2014/main" id="{A0B9503B-EE2D-990A-048E-1C545F8A7473}"/>
              </a:ext>
            </a:extLst>
          </p:cNvPr>
          <p:cNvPicPr>
            <a:picLocks noChangeAspect="1"/>
          </p:cNvPicPr>
          <p:nvPr/>
        </p:nvPicPr>
        <p:blipFill>
          <a:blip r:embed="rId4"/>
          <a:stretch>
            <a:fillRect/>
          </a:stretch>
        </p:blipFill>
        <p:spPr>
          <a:xfrm>
            <a:off x="658346" y="1741593"/>
            <a:ext cx="10875307" cy="3528497"/>
          </a:xfrm>
          <a:prstGeom prst="rect">
            <a:avLst/>
          </a:prstGeom>
        </p:spPr>
      </p:pic>
    </p:spTree>
    <p:extLst>
      <p:ext uri="{BB962C8B-B14F-4D97-AF65-F5344CB8AC3E}">
        <p14:creationId xmlns:p14="http://schemas.microsoft.com/office/powerpoint/2010/main" val="3545013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997" y="871496"/>
            <a:ext cx="12799993" cy="671934"/>
          </a:xfrm>
        </p:spPr>
        <p:txBody>
          <a:bodyPr>
            <a:noAutofit/>
          </a:bodyPr>
          <a:lstStyle/>
          <a:p>
            <a:pPr algn="ctr"/>
            <a:r>
              <a:rPr lang="en-IN" sz="2800" dirty="0">
                <a:latin typeface="Times New Roman" panose="02020603050405020304" pitchFamily="18" charset="0"/>
                <a:cs typeface="Times New Roman" panose="02020603050405020304" pitchFamily="18" charset="0"/>
              </a:rPr>
              <a:t>MODULE 3–MACHINE LEARNING-BASED DISEASE CLASSIFICATION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AND PREDICTION</a:t>
            </a:r>
            <a:br>
              <a:rPr lang="en-US"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6026" y="1747764"/>
            <a:ext cx="11316928" cy="3941796"/>
          </a:xfrm>
        </p:spPr>
        <p:txBody>
          <a:bodyPr>
            <a:noAutofit/>
          </a:bodyPr>
          <a:lstStyle/>
          <a:p>
            <a:pPr lvl="0" algn="just">
              <a:lnSpc>
                <a:spcPct val="150000"/>
              </a:lnSpc>
            </a:pPr>
            <a:r>
              <a:rPr lang="en-IN" dirty="0">
                <a:latin typeface="Times New Roman" panose="02020603050405020304" pitchFamily="18" charset="0"/>
                <a:cs typeface="Times New Roman" panose="02020603050405020304" pitchFamily="18" charset="0"/>
              </a:rPr>
              <a:t>Use the extracted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texture, and shape features as input for the machine learning classification model.</a:t>
            </a:r>
          </a:p>
          <a:p>
            <a:pPr lvl="0" algn="just">
              <a:lnSpc>
                <a:spcPct val="150000"/>
              </a:lnSpc>
            </a:pPr>
            <a:r>
              <a:rPr lang="en-IN" dirty="0">
                <a:latin typeface="Times New Roman" panose="02020603050405020304" pitchFamily="18" charset="0"/>
                <a:cs typeface="Times New Roman" panose="02020603050405020304" pitchFamily="18" charset="0"/>
              </a:rPr>
              <a:t>Train the machine learning model using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plant leaf images containing healthy and diseased samples.</a:t>
            </a:r>
          </a:p>
          <a:p>
            <a:pPr lvl="0" algn="just">
              <a:lnSpc>
                <a:spcPct val="150000"/>
              </a:lnSpc>
            </a:pPr>
            <a:r>
              <a:rPr lang="en-IN" dirty="0">
                <a:latin typeface="Times New Roman" panose="02020603050405020304" pitchFamily="18" charset="0"/>
                <a:cs typeface="Times New Roman" panose="02020603050405020304" pitchFamily="18" charset="0"/>
              </a:rPr>
              <a:t>Learn the patterns and characteristics associated with different types of plant leaf diseases.</a:t>
            </a:r>
          </a:p>
          <a:p>
            <a:pPr lvl="0" algn="just">
              <a:lnSpc>
                <a:spcPct val="150000"/>
              </a:lnSpc>
            </a:pPr>
            <a:r>
              <a:rPr lang="en-IN" dirty="0">
                <a:latin typeface="Times New Roman" panose="02020603050405020304" pitchFamily="18" charset="0"/>
                <a:cs typeface="Times New Roman" panose="02020603050405020304" pitchFamily="18" charset="0"/>
              </a:rPr>
              <a:t>Test the trained model using unseen leaf images to evaluate its classification performance.</a:t>
            </a:r>
          </a:p>
          <a:p>
            <a:pPr lvl="0" algn="just">
              <a:lnSpc>
                <a:spcPct val="150000"/>
              </a:lnSpc>
            </a:pPr>
            <a:r>
              <a:rPr lang="en-IN" dirty="0">
                <a:latin typeface="Times New Roman" panose="02020603050405020304" pitchFamily="18" charset="0"/>
                <a:cs typeface="Times New Roman" panose="02020603050405020304" pitchFamily="18" charset="0"/>
              </a:rPr>
              <a:t>Classify the input leaf into the appropriate category based on the learned features.</a:t>
            </a:r>
          </a:p>
          <a:p>
            <a:pPr lvl="0" algn="just">
              <a:lnSpc>
                <a:spcPct val="150000"/>
              </a:lnSpc>
            </a:pPr>
            <a:r>
              <a:rPr lang="en-IN" dirty="0">
                <a:latin typeface="Times New Roman" panose="02020603050405020304" pitchFamily="18" charset="0"/>
                <a:cs typeface="Times New Roman" panose="02020603050405020304" pitchFamily="18" charset="0"/>
              </a:rPr>
              <a:t>Identify whether the plant leaf is </a:t>
            </a:r>
            <a:r>
              <a:rPr lang="en-IN" b="1" dirty="0">
                <a:latin typeface="Times New Roman" panose="02020603050405020304" pitchFamily="18" charset="0"/>
                <a:cs typeface="Times New Roman" panose="02020603050405020304" pitchFamily="18" charset="0"/>
              </a:rPr>
              <a:t>healthy or diseased</a:t>
            </a:r>
            <a:r>
              <a:rPr lang="en-IN" dirty="0">
                <a:latin typeface="Times New Roman" panose="02020603050405020304" pitchFamily="18" charset="0"/>
                <a:cs typeface="Times New Roman" panose="02020603050405020304" pitchFamily="18" charset="0"/>
              </a:rPr>
              <a:t>.</a:t>
            </a:r>
          </a:p>
          <a:p>
            <a:pPr lvl="0" algn="just">
              <a:lnSpc>
                <a:spcPct val="150000"/>
              </a:lnSpc>
            </a:pPr>
            <a:r>
              <a:rPr lang="en-IN" dirty="0">
                <a:latin typeface="Times New Roman" panose="02020603050405020304" pitchFamily="18" charset="0"/>
                <a:cs typeface="Times New Roman" panose="02020603050405020304" pitchFamily="18" charset="0"/>
              </a:rPr>
              <a:t>If the leaf is diseased, determine the specific disease category based on the trained dataset.</a:t>
            </a:r>
          </a:p>
          <a:p>
            <a:pPr lvl="0" algn="just">
              <a:lnSpc>
                <a:spcPct val="150000"/>
              </a:lnSpc>
            </a:pPr>
            <a:r>
              <a:rPr lang="en-IN" dirty="0">
                <a:latin typeface="Times New Roman" panose="02020603050405020304" pitchFamily="18" charset="0"/>
                <a:cs typeface="Times New Roman" panose="02020603050405020304" pitchFamily="18" charset="0"/>
              </a:rPr>
              <a:t>Calculate performance measures such as </a:t>
            </a:r>
            <a:r>
              <a:rPr lang="en-IN" b="1" dirty="0">
                <a:latin typeface="Times New Roman" panose="02020603050405020304" pitchFamily="18" charset="0"/>
                <a:cs typeface="Times New Roman" panose="02020603050405020304" pitchFamily="18" charset="0"/>
              </a:rPr>
              <a:t>accuracy, precision, recall, and F1-score</a:t>
            </a:r>
            <a:r>
              <a:rPr lang="en-IN" dirty="0">
                <a:latin typeface="Times New Roman" panose="02020603050405020304" pitchFamily="18" charset="0"/>
                <a:cs typeface="Times New Roman" panose="02020603050405020304" pitchFamily="18" charset="0"/>
              </a:rPr>
              <a:t> to evaluate the model.</a:t>
            </a:r>
          </a:p>
        </p:txBody>
      </p:sp>
      <p:pic>
        <p:nvPicPr>
          <p:cNvPr id="5" name="Picture 4" descr="A blue circular logo with a book and a caduceus&#10;&#10;AI-generated content may be incorrect."/>
          <p:cNvPicPr>
            <a:picLocks noChangeAspect="1"/>
          </p:cNvPicPr>
          <p:nvPr/>
        </p:nvPicPr>
        <p:blipFill>
          <a:blip r:embed="rId2"/>
          <a:stretch>
            <a:fillRect/>
          </a:stretch>
        </p:blipFill>
        <p:spPr>
          <a:xfrm>
            <a:off x="44359" y="121515"/>
            <a:ext cx="879683" cy="749981"/>
          </a:xfrm>
          <a:prstGeom prst="rect">
            <a:avLst/>
          </a:prstGeom>
        </p:spPr>
      </p:pic>
      <p:pic>
        <p:nvPicPr>
          <p:cNvPr id="7" name="Picture 6" descr="A logo of a company&#10;&#10;AI-generated content may be incorrect."/>
          <p:cNvPicPr>
            <a:picLocks noChangeAspect="1"/>
          </p:cNvPicPr>
          <p:nvPr/>
        </p:nvPicPr>
        <p:blipFill>
          <a:blip r:embed="rId3"/>
          <a:stretch>
            <a:fillRect/>
          </a:stretch>
        </p:blipFill>
        <p:spPr>
          <a:xfrm>
            <a:off x="11085870" y="0"/>
            <a:ext cx="1061771" cy="8983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52" y="628957"/>
            <a:ext cx="10890929" cy="1097280"/>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RESULTS AND INSIGHTS</a:t>
            </a:r>
            <a:br>
              <a:rPr lang="en-IN" dirty="0">
                <a:latin typeface="Times New Roman" panose="02020603050405020304" pitchFamily="18" charset="0"/>
                <a:cs typeface="Times New Roman" panose="02020603050405020304" pitchFamily="18" charset="0"/>
              </a:rPr>
            </a:br>
            <a:endParaRPr lang="en-US" sz="5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1158" y="1501756"/>
            <a:ext cx="11035090" cy="4820385"/>
          </a:xfrm>
        </p:spPr>
        <p:txBody>
          <a:bodyPr vert="horz" lIns="91440" tIns="45720" rIns="91440" bIns="45720" rtlCol="0" anchor="t">
            <a:noAutofit/>
          </a:bodyPr>
          <a:lstStyle/>
          <a:p>
            <a:pPr marL="0" indent="0">
              <a:buNone/>
            </a:pP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pic>
        <p:nvPicPr>
          <p:cNvPr id="5" name="Picture 4" descr="A blue circular logo with a book and a caduceus&#10;&#10;AI-generated content may be incorrect."/>
          <p:cNvPicPr>
            <a:picLocks noChangeAspect="1"/>
          </p:cNvPicPr>
          <p:nvPr/>
        </p:nvPicPr>
        <p:blipFill>
          <a:blip r:embed="rId3"/>
          <a:stretch>
            <a:fillRect/>
          </a:stretch>
        </p:blipFill>
        <p:spPr>
          <a:xfrm>
            <a:off x="520032" y="201196"/>
            <a:ext cx="1459642" cy="1244429"/>
          </a:xfrm>
          <a:prstGeom prst="rect">
            <a:avLst/>
          </a:prstGeom>
        </p:spPr>
      </p:pic>
      <p:pic>
        <p:nvPicPr>
          <p:cNvPr id="7" name="Picture 6" descr="A logo of a company&#10;&#10;AI-generated content may be incorrect."/>
          <p:cNvPicPr>
            <a:picLocks noChangeAspect="1"/>
          </p:cNvPicPr>
          <p:nvPr/>
        </p:nvPicPr>
        <p:blipFill>
          <a:blip r:embed="rId4"/>
          <a:stretch>
            <a:fillRect/>
          </a:stretch>
        </p:blipFill>
        <p:spPr>
          <a:xfrm>
            <a:off x="9814611" y="201954"/>
            <a:ext cx="1439049" cy="1243657"/>
          </a:xfrm>
          <a:prstGeom prst="rect">
            <a:avLst/>
          </a:prstGeom>
        </p:spPr>
      </p:pic>
      <p:pic>
        <p:nvPicPr>
          <p:cNvPr id="4" name="Picture 3" descr="NSquare">
            <a:extLst>
              <a:ext uri="{FF2B5EF4-FFF2-40B4-BE49-F238E27FC236}">
                <a16:creationId xmlns:a16="http://schemas.microsoft.com/office/drawing/2014/main" id="{718760BA-A866-C1CB-ABB5-9D27AAC5B006}"/>
              </a:ext>
            </a:extLst>
          </p:cNvPr>
          <p:cNvPicPr>
            <a:picLocks noChangeAspect="1"/>
          </p:cNvPicPr>
          <p:nvPr/>
        </p:nvPicPr>
        <p:blipFill>
          <a:blip r:embed="rId5"/>
          <a:srcRect t="21892"/>
          <a:stretch>
            <a:fillRect/>
          </a:stretch>
        </p:blipFill>
        <p:spPr>
          <a:xfrm>
            <a:off x="2018888" y="1441256"/>
            <a:ext cx="8019629" cy="3914988"/>
          </a:xfrm>
          <a:prstGeom prst="rect">
            <a:avLst/>
          </a:prstGeom>
        </p:spPr>
      </p:pic>
      <p:sp>
        <p:nvSpPr>
          <p:cNvPr id="6" name="TextBox 5">
            <a:extLst>
              <a:ext uri="{FF2B5EF4-FFF2-40B4-BE49-F238E27FC236}">
                <a16:creationId xmlns:a16="http://schemas.microsoft.com/office/drawing/2014/main" id="{F430B9D6-0756-C337-125D-4F44B477F280}"/>
              </a:ext>
            </a:extLst>
          </p:cNvPr>
          <p:cNvSpPr txBox="1"/>
          <p:nvPr/>
        </p:nvSpPr>
        <p:spPr>
          <a:xfrm>
            <a:off x="4765375" y="5531415"/>
            <a:ext cx="252665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plant_leaf_disease_website.html</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83" y="896985"/>
            <a:ext cx="10890929" cy="1097280"/>
          </a:xfrm>
        </p:spPr>
        <p:txBody>
          <a:bodyPr>
            <a:noAutofit/>
          </a:bodyPr>
          <a:lstStyle/>
          <a:p>
            <a:pPr algn="ctr"/>
            <a:r>
              <a:rPr lang="en-IN" dirty="0">
                <a:latin typeface="Times New Roman" panose="02020603050405020304"/>
                <a:cs typeface="Times New Roman" panose="02020603050405020304"/>
              </a:rPr>
              <a:t> FUTURE WORK</a:t>
            </a:r>
            <a:br>
              <a:rPr lang="en-IN" dirty="0">
                <a:latin typeface="Times New Roman" panose="02020603050405020304" pitchFamily="18" charset="0"/>
                <a:cs typeface="Times New Roman" panose="02020603050405020304" pitchFamily="18" charset="0"/>
              </a:rPr>
            </a:br>
            <a:br>
              <a:rPr lang="en-IN" b="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descr="A blue circular logo with a book and a caduceus&#10;&#10;AI-generated content may be incorrect."/>
          <p:cNvPicPr>
            <a:picLocks noChangeAspect="1"/>
          </p:cNvPicPr>
          <p:nvPr/>
        </p:nvPicPr>
        <p:blipFill>
          <a:blip r:embed="rId2"/>
          <a:stretch>
            <a:fillRect/>
          </a:stretch>
        </p:blipFill>
        <p:spPr>
          <a:xfrm>
            <a:off x="520032" y="201196"/>
            <a:ext cx="1459642" cy="1244429"/>
          </a:xfrm>
          <a:prstGeom prst="rect">
            <a:avLst/>
          </a:prstGeom>
        </p:spPr>
      </p:pic>
      <p:pic>
        <p:nvPicPr>
          <p:cNvPr id="7" name="Picture 6" descr="A logo of a company&#10;&#10;AI-generated content may be incorrect."/>
          <p:cNvPicPr>
            <a:picLocks noChangeAspect="1"/>
          </p:cNvPicPr>
          <p:nvPr/>
        </p:nvPicPr>
        <p:blipFill>
          <a:blip r:embed="rId3"/>
          <a:stretch>
            <a:fillRect/>
          </a:stretch>
        </p:blipFill>
        <p:spPr>
          <a:xfrm>
            <a:off x="9726263" y="3171"/>
            <a:ext cx="1439049" cy="1243657"/>
          </a:xfrm>
          <a:prstGeom prst="rect">
            <a:avLst/>
          </a:prstGeom>
        </p:spPr>
      </p:pic>
      <p:sp>
        <p:nvSpPr>
          <p:cNvPr id="6" name="Rectangle 2">
            <a:extLst>
              <a:ext uri="{FF2B5EF4-FFF2-40B4-BE49-F238E27FC236}">
                <a16:creationId xmlns:a16="http://schemas.microsoft.com/office/drawing/2014/main" id="{30A17484-C9C1-8A92-01B2-B04BC719C8FC}"/>
              </a:ext>
            </a:extLst>
          </p:cNvPr>
          <p:cNvSpPr>
            <a:spLocks noChangeArrowheads="1"/>
          </p:cNvSpPr>
          <p:nvPr/>
        </p:nvSpPr>
        <p:spPr bwMode="auto">
          <a:xfrm>
            <a:off x="221574" y="1612282"/>
            <a:ext cx="11748851"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 the accuracy of disease classification by using advanced machine learning and deep learning algorithms.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a </a:t>
            </a:r>
            <a:r>
              <a:rPr lang="en-IN" sz="2000" b="1" dirty="0">
                <a:latin typeface="Times New Roman" panose="02020603050405020304" pitchFamily="18" charset="0"/>
                <a:cs typeface="Times New Roman" panose="02020603050405020304" pitchFamily="18" charset="0"/>
              </a:rPr>
              <a:t>Convolutional Neural Network (CNN)</a:t>
            </a:r>
            <a:r>
              <a:rPr lang="en-IN" sz="2000" dirty="0">
                <a:latin typeface="Times New Roman" panose="02020603050405020304" pitchFamily="18" charset="0"/>
                <a:cs typeface="Times New Roman" panose="02020603050405020304" pitchFamily="18" charset="0"/>
              </a:rPr>
              <a:t> model to automatically learn important features from plant leaf images.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Expand the dataset by collecting more images of different crops, diseases, leaf conditions, and environmental backgrounds.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a real-time disease detection system that can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leaf images directly through a </a:t>
            </a:r>
            <a:r>
              <a:rPr lang="en-IN" sz="2000" b="1" dirty="0">
                <a:latin typeface="Times New Roman" panose="02020603050405020304" pitchFamily="18" charset="0"/>
                <a:cs typeface="Times New Roman" panose="02020603050405020304" pitchFamily="18" charset="0"/>
              </a:rPr>
              <a:t>mobile or web application</a:t>
            </a:r>
            <a:r>
              <a:rPr lang="en-IN" sz="2000" dirty="0">
                <a:latin typeface="Times New Roman" panose="02020603050405020304" pitchFamily="18" charset="0"/>
                <a:cs typeface="Times New Roman" panose="02020603050405020304" pitchFamily="18" charset="0"/>
              </a:rPr>
              <a:t>.</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 the system with cameras or drones for large-scale monitoring of agricultural fields.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Add more plant species and disease categories to make the system applicable to a wider range of crops.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circular logo with a book and a caduceus&#10;&#10;AI-generated content may be incorrect."/>
          <p:cNvPicPr>
            <a:picLocks noChangeAspect="1"/>
          </p:cNvPicPr>
          <p:nvPr/>
        </p:nvPicPr>
        <p:blipFill>
          <a:blip r:embed="rId2"/>
          <a:stretch>
            <a:fillRect/>
          </a:stretch>
        </p:blipFill>
        <p:spPr>
          <a:xfrm>
            <a:off x="520032" y="201196"/>
            <a:ext cx="1459642" cy="1244429"/>
          </a:xfrm>
          <a:prstGeom prst="rect">
            <a:avLst/>
          </a:prstGeom>
        </p:spPr>
      </p:pic>
      <p:pic>
        <p:nvPicPr>
          <p:cNvPr id="7" name="Picture 6" descr="A logo of a company&#10;&#10;AI-generated content may be incorrect."/>
          <p:cNvPicPr>
            <a:picLocks noChangeAspect="1"/>
          </p:cNvPicPr>
          <p:nvPr/>
        </p:nvPicPr>
        <p:blipFill>
          <a:blip r:embed="rId3"/>
          <a:stretch>
            <a:fillRect/>
          </a:stretch>
        </p:blipFill>
        <p:spPr>
          <a:xfrm>
            <a:off x="9814560" y="201930"/>
            <a:ext cx="1640840" cy="1243965"/>
          </a:xfrm>
          <a:prstGeom prst="rect">
            <a:avLst/>
          </a:prstGeom>
        </p:spPr>
      </p:pic>
      <p:sp>
        <p:nvSpPr>
          <p:cNvPr id="4" name="Text Box 3"/>
          <p:cNvSpPr txBox="1"/>
          <p:nvPr/>
        </p:nvSpPr>
        <p:spPr>
          <a:xfrm>
            <a:off x="2471102" y="587145"/>
            <a:ext cx="7766685" cy="855980"/>
          </a:xfrm>
          <a:prstGeom prst="rect">
            <a:avLst/>
          </a:prstGeom>
          <a:noFill/>
        </p:spPr>
        <p:txBody>
          <a:bodyPr wrap="square" rtlCol="0">
            <a:noAutofit/>
          </a:bodyPr>
          <a:lstStyle/>
          <a:p>
            <a:r>
              <a:rPr lang="en-IN" altLang="en-US" b="1" dirty="0"/>
              <a:t>                               </a:t>
            </a:r>
            <a:r>
              <a:rPr lang="en-IN" altLang="en-US" sz="3600" b="1" dirty="0">
                <a:latin typeface="Times New Roman" panose="02020603050405020304" pitchFamily="18" charset="0"/>
                <a:cs typeface="Times New Roman" panose="02020603050405020304" pitchFamily="18" charset="0"/>
              </a:rPr>
              <a:t>  CONCLUSION</a:t>
            </a:r>
          </a:p>
        </p:txBody>
      </p:sp>
      <p:sp>
        <p:nvSpPr>
          <p:cNvPr id="6" name="Text Box 5"/>
          <p:cNvSpPr txBox="1"/>
          <p:nvPr/>
        </p:nvSpPr>
        <p:spPr>
          <a:xfrm>
            <a:off x="1091565" y="1875155"/>
            <a:ext cx="10525760" cy="4547235"/>
          </a:xfrm>
          <a:prstGeom prst="rect">
            <a:avLst/>
          </a:prstGeom>
          <a:noFill/>
        </p:spPr>
        <p:txBody>
          <a:bodyPr wrap="square" rtlCol="0">
            <a:noAutofit/>
          </a:bodyPr>
          <a:lstStyle/>
          <a:p>
            <a:r>
              <a:rPr lang="en-US" altLang="en-US" sz="2200" dirty="0">
                <a:latin typeface="Times New Roman" panose="02020603050405020304" pitchFamily="18" charset="0"/>
                <a:cs typeface="Times New Roman" panose="02020603050405020304" pitchFamily="18" charset="0"/>
              </a:rPr>
              <a:t> </a:t>
            </a:r>
            <a:endParaRPr lang="en-US" dirty="0"/>
          </a:p>
        </p:txBody>
      </p:sp>
      <p:sp>
        <p:nvSpPr>
          <p:cNvPr id="3" name="TextBox 2">
            <a:extLst>
              <a:ext uri="{FF2B5EF4-FFF2-40B4-BE49-F238E27FC236}">
                <a16:creationId xmlns:a16="http://schemas.microsoft.com/office/drawing/2014/main" id="{BDF3DE31-75A2-F873-5AB6-4D278B7BF88B}"/>
              </a:ext>
            </a:extLst>
          </p:cNvPr>
          <p:cNvSpPr txBox="1"/>
          <p:nvPr/>
        </p:nvSpPr>
        <p:spPr>
          <a:xfrm>
            <a:off x="574675" y="1591116"/>
            <a:ext cx="11292860" cy="4922951"/>
          </a:xfrm>
          <a:prstGeom prst="rect">
            <a:avLst/>
          </a:prstGeom>
          <a:noFill/>
        </p:spPr>
        <p:txBody>
          <a:bodyPr wrap="square">
            <a:spAutoFit/>
          </a:bodyPr>
          <a:lstStyle/>
          <a:p>
            <a:pPr marL="342900" lvl="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provides an automated approach for identifying and classifying plant leaf diseases from images.</a:t>
            </a:r>
          </a:p>
          <a:p>
            <a:pPr marL="342900" lvl="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OpenCV is effectively used for image preprocessing, enhancement, segmentation, and feature extraction.</a:t>
            </a:r>
          </a:p>
          <a:p>
            <a:pPr marL="342900" lvl="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Important features such as </a:t>
            </a:r>
            <a:r>
              <a:rPr lang="en-IN" sz="2000" b="1" dirty="0" err="1">
                <a:latin typeface="Times New Roman" panose="02020603050405020304" pitchFamily="18" charset="0"/>
                <a:cs typeface="Times New Roman" panose="02020603050405020304" pitchFamily="18" charset="0"/>
              </a:rPr>
              <a:t>color</a:t>
            </a:r>
            <a:r>
              <a:rPr lang="en-IN" sz="2000" b="1" dirty="0">
                <a:latin typeface="Times New Roman" panose="02020603050405020304" pitchFamily="18" charset="0"/>
                <a:cs typeface="Times New Roman" panose="02020603050405020304" pitchFamily="18" charset="0"/>
              </a:rPr>
              <a:t>, texture, and shape</a:t>
            </a:r>
            <a:r>
              <a:rPr lang="en-IN" sz="2000" dirty="0">
                <a:latin typeface="Times New Roman" panose="02020603050405020304" pitchFamily="18" charset="0"/>
                <a:cs typeface="Times New Roman" panose="02020603050405020304" pitchFamily="18" charset="0"/>
              </a:rPr>
              <a:t> are extracted from plant leaf images.</a:t>
            </a:r>
          </a:p>
          <a:p>
            <a:pPr marL="342900" lvl="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Machine learning techniques are used to classify leaves into </a:t>
            </a:r>
            <a:r>
              <a:rPr lang="en-IN" sz="2000" b="1" dirty="0">
                <a:latin typeface="Times New Roman" panose="02020603050405020304" pitchFamily="18" charset="0"/>
                <a:cs typeface="Times New Roman" panose="02020603050405020304" pitchFamily="18" charset="0"/>
              </a:rPr>
              <a:t>healthy and diseased categories</a:t>
            </a:r>
            <a:r>
              <a:rPr lang="en-IN" sz="2000" dirty="0">
                <a:latin typeface="Times New Roman" panose="02020603050405020304" pitchFamily="18" charset="0"/>
                <a:cs typeface="Times New Roman" panose="02020603050405020304" pitchFamily="18" charset="0"/>
              </a:rPr>
              <a:t>.</a:t>
            </a:r>
          </a:p>
          <a:p>
            <a:pPr marL="342900" lvl="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reduces the time and effort required for manual disease identification.</a:t>
            </a:r>
          </a:p>
          <a:p>
            <a:pPr marL="342900" lvl="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Automated classification provides faster and more consistent results compared with traditional visual inspection.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DC3674-8120-9E4C-3F82-25B5875C5EC7}"/>
              </a:ext>
            </a:extLst>
          </p:cNvPr>
          <p:cNvSpPr txBox="1"/>
          <p:nvPr/>
        </p:nvSpPr>
        <p:spPr>
          <a:xfrm>
            <a:off x="4021393" y="2413337"/>
            <a:ext cx="6096000" cy="1015663"/>
          </a:xfrm>
          <a:prstGeom prst="rect">
            <a:avLst/>
          </a:prstGeom>
          <a:noFill/>
        </p:spPr>
        <p:txBody>
          <a:bodyPr wrap="square">
            <a:spAutoFit/>
          </a:bodyPr>
          <a:lstStyle/>
          <a:p>
            <a:r>
              <a:rPr lang="en-US" sz="6000" b="1" dirty="0">
                <a:latin typeface="Times New Roman" panose="02020603050405020304" pitchFamily="18" charset="0"/>
                <a:cs typeface="Times New Roman" panose="02020603050405020304" pitchFamily="18" charset="0"/>
              </a:rPr>
              <a:t>THANK YOU </a:t>
            </a:r>
            <a:endParaRPr lang="en-IN" sz="6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2273718"/>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TotalTime>
  <Words>1037</Words>
  <Application>Microsoft Office PowerPoint</Application>
  <PresentationFormat>Widescreen</PresentationFormat>
  <Paragraphs>79</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Grandview Display</vt:lpstr>
      <vt:lpstr>Times New Roman</vt:lpstr>
      <vt:lpstr>DashVTI</vt:lpstr>
      <vt:lpstr>PowerPoint Presentation</vt:lpstr>
      <vt:lpstr>INTRODUCTION</vt:lpstr>
      <vt:lpstr>PROBLEM STATEMENT</vt:lpstr>
      <vt:lpstr>OBJECTIVES</vt:lpstr>
      <vt:lpstr>LITERATURE REVIEW </vt:lpstr>
      <vt:lpstr>PowerPoint Presentation</vt:lpstr>
      <vt:lpstr>MODULE 1: IMAGE ACQUISITION AND PREPROCESSING</vt:lpstr>
      <vt:lpstr>PowerPoint Presentation</vt:lpstr>
      <vt:lpstr>MODULE 2: FEATURE EXTRACTION AND DISEASE DETECTION</vt:lpstr>
      <vt:lpstr>PowerPoint Presentation</vt:lpstr>
      <vt:lpstr>MODULE 3–MACHINE LEARNING-BASED DISEASE CLASSIFICATION  AND PREDICTION </vt:lpstr>
      <vt:lpstr>RESULTS AND INSIGHTS </vt:lpstr>
      <vt:lpstr> FUTURE WORK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Bhavya K</dc:creator>
  <cp:lastModifiedBy>B Hemanth kumar</cp:lastModifiedBy>
  <cp:revision>38</cp:revision>
  <dcterms:created xsi:type="dcterms:W3CDTF">2025-10-29T07:01:00Z</dcterms:created>
  <dcterms:modified xsi:type="dcterms:W3CDTF">2026-08-27T06:09:55Z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7011DE3EE5824066A072CBDF4F8700C6_12</vt:lpwstr>
  </property>
  <property fmtid="{D5CDD505-2E9C-101B-9397-08002B2CF9AE}" pid="3" name="KSOProductBuildVer">
    <vt:lpwstr>1033-12.2.0.22549</vt:lpwstr>
  </property>
</Properties>
</file>